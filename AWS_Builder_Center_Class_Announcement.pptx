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1097280"/>
            <a:ext cx="1097280" cy="656268"/>
          </a:xfrm>
          <a:prstGeom prst="rect">
            <a:avLst/>
          </a:prstGeom>
        </p:spPr>
      </p:pic>
      <p:pic>
        <p:nvPicPr>
          <p:cNvPr id="5" name="Picture 4" descr="ABC White (1)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280160"/>
            <a:ext cx="3291840" cy="36690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371600" y="2057400"/>
            <a:ext cx="2926080" cy="320040"/>
          </a:xfrm>
          <a:prstGeom prst="roundRect">
            <a:avLst/>
          </a:prstGeom>
          <a:solidFill>
            <a:srgbClr val="202C3C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4A3B8"/>
                </a:solidFill>
                <a:latin typeface="Amazon Ember"/>
              </a:defRPr>
            </a:pPr>
            <a:r>
              <a:t>CAMPUS ANNOUNCEMENT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8686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8FAFC"/>
                </a:solidFill>
                <a:latin typeface="Amazon Ember"/>
              </a:defRPr>
            </a:pPr>
            <a:r>
              <a:t>Build What's Next with AWS</a:t>
            </a:r>
          </a:p>
          <a:p>
            <a:pPr>
              <a:spcBef>
                <a:spcPts val="800"/>
              </a:spcBef>
              <a:defRPr sz="1700">
                <a:solidFill>
                  <a:srgbClr val="EC7211"/>
                </a:solidFill>
                <a:latin typeface="Amazon Ember"/>
              </a:defRPr>
            </a:pPr>
            <a:r>
              <a:t>Discover AWS Builder Center — Your Global Gateway to Cloud, AI &amp; Community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663440"/>
            <a:ext cx="9418320" cy="10515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Presented by Sathwik Bhat</a:t>
            </a:r>
          </a:p>
          <a:p>
            <a:pPr>
              <a:spcBef>
                <a:spcPts val="300"/>
              </a:spcBef>
              <a:defRPr sz="1200">
                <a:solidFill>
                  <a:srgbClr val="94A3B8"/>
                </a:solidFill>
                <a:latin typeface="Amazon Ember"/>
              </a:defRPr>
            </a:pPr>
            <a:r>
              <a:t>AWS Student Builder Campus Leader (SBCL)  •  builder.aws.com  •  #awssbcl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AWS STUDENT BUILDER CAMPUS LEADER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Meet Your Campus Leader: Sathwik Bhat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54480"/>
            <a:ext cx="3657600" cy="457200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554480"/>
          <a:lstStyle/>
          <a:p>
            <a:pPr algn="ctr">
              <a:defRPr sz="2000" b="1">
                <a:solidFill>
                  <a:srgbClr val="F8FAFC"/>
                </a:solidFill>
                <a:latin typeface="Amazon Ember"/>
              </a:defRPr>
            </a:pPr>
            <a:r>
              <a:t>Sathwik Bhat</a:t>
            </a:r>
          </a:p>
          <a:p>
            <a:pPr>
              <a:spcBef>
                <a:spcPts val="400"/>
              </a:spcBef>
              <a:defRPr sz="1100" b="1">
                <a:solidFill>
                  <a:srgbClr val="EC7211"/>
                </a:solidFill>
                <a:latin typeface="Amazon Ember"/>
              </a:defRPr>
            </a:pPr>
            <a:r>
              <a:t>AWS Student Builder Campus Leader (SBCL)</a:t>
            </a:r>
          </a:p>
          <a:p>
            <a:pPr>
              <a:spcBef>
                <a:spcPts val="1400"/>
              </a:spcBef>
              <a:defRPr sz="1150">
                <a:solidFill>
                  <a:srgbClr val="94A3B8"/>
                </a:solidFill>
                <a:latin typeface="Amazon Ember"/>
              </a:defRPr>
            </a:pPr>
            <a:r>
              <a:t>Officially selected by Amazon Web Services to represent AWS on our campus, bridging the gap between classroom academics and real-world cloud &amp; AI technology.</a:t>
            </a:r>
          </a:p>
          <a:p>
            <a:pPr>
              <a:spcBef>
                <a:spcPts val="16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Builder Center Handle:</a:t>
            </a:r>
            <a:br/>
            <a:r>
              <a:t>@bhatsathwik  •  SATHWIK K BHAT</a:t>
            </a:r>
          </a:p>
        </p:txBody>
      </p:sp>
      <p:pic>
        <p:nvPicPr>
          <p:cNvPr id="8" name="Picture 7" descr="sathwik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1783080"/>
            <a:ext cx="1188720" cy="1188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46320" y="1554480"/>
            <a:ext cx="6400800" cy="1353312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400" b="1">
                <a:solidFill>
                  <a:srgbClr val="F8FAFC"/>
                </a:solidFill>
                <a:latin typeface="Amazon Ember"/>
              </a:defRPr>
            </a:pPr>
            <a:r>
              <a:t>01.  Connecting Our Campus to AWS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Direct bridge to official AWS resources, developer community programs, hackathons, and global technical challenges.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090672"/>
            <a:ext cx="6400800" cy="1353312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400" b="1">
                <a:solidFill>
                  <a:srgbClr val="F8FAFC"/>
                </a:solidFill>
                <a:latin typeface="Amazon Ember"/>
              </a:defRPr>
            </a:pPr>
            <a:r>
              <a:t>02.  Free Cloud &amp; AI Learning for Everyone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Enabling peers across all branches and years to master high-demand cloud and GenAI tools at zero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4626864"/>
            <a:ext cx="6400800" cy="1353312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400" b="1">
                <a:solidFill>
                  <a:srgbClr val="F8FAFC"/>
                </a:solidFill>
                <a:latin typeface="Amazon Ember"/>
              </a:defRPr>
            </a:pPr>
            <a:r>
              <a:t>03.  Mentorship &amp; Certification Preparation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Guiding you through AWS certification pathways (Cloud Practitioner, Solutions Architect), workshops, and project showcases.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THE OFFICIAL COMMUNITY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What is AWS Builder Center?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1">
                <a:solidFill>
                  <a:srgbClr val="F8FAFC"/>
                </a:solidFill>
                <a:latin typeface="Amazon Ember"/>
              </a:defRPr>
            </a:pPr>
            <a:r>
              <a:t>The Home for Builders Worldwide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  <a:latin typeface="Amazon Ember"/>
              </a:defRPr>
            </a:pPr>
            <a:r>
              <a:t>AWS Builder Center is Amazon's premier interactive space where developers, students, and cloud builders come together to learn, build, and connect.</a:t>
            </a:r>
          </a:p>
          <a:p>
            <a:pPr>
              <a:spcBef>
                <a:spcPts val="1400"/>
              </a:spcBef>
              <a:defRPr sz="1300" b="1">
                <a:solidFill>
                  <a:srgbClr val="EC7211"/>
                </a:solidFill>
                <a:latin typeface="Amazon Ember"/>
              </a:defRPr>
            </a:pPr>
            <a:r>
              <a:t>Key Highlights for Students: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•  Curated Technical Articles: </a:t>
            </a:r>
            <a:r>
              <a:rPr b="0">
                <a:solidFill>
                  <a:srgbClr val="94A3B8"/>
                </a:solidFill>
              </a:rPr>
              <a:t>Access real-world technical articles, tutorials, architecture patterns, and publish your own student projects.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•  Global Developer Network: </a:t>
            </a:r>
            <a:r>
              <a:rPr b="0">
                <a:solidFill>
                  <a:srgbClr val="94A3B8"/>
                </a:solidFill>
              </a:rPr>
              <a:t>Directly interact with AWS Community Builders, AWS Heroes, and student leaders worldwide.</a:t>
            </a:r>
          </a:p>
          <a:p>
            <a:pPr>
              <a:spcBef>
                <a:spcPts val="800"/>
              </a:spcBef>
              <a:defRPr sz="1150" b="1">
                <a:solidFill>
                  <a:srgbClr val="F8FAFC"/>
                </a:solidFill>
                <a:latin typeface="Amazon Ember"/>
              </a:defRPr>
            </a:pPr>
            <a:r>
              <a:t>•  Hands-On Labs &amp; Toolboxes: </a:t>
            </a:r>
            <a:r>
              <a:rPr b="0">
                <a:solidFill>
                  <a:srgbClr val="94A3B8"/>
                </a:solidFill>
              </a:rPr>
              <a:t>Explore AWS Free Tier, Serverless tools, and guided workshops without complex billing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5303520" cy="457200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G-20260916-WA0040.jpg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920240"/>
            <a:ext cx="5120640" cy="2537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0" y="16002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94A3B8"/>
                </a:solidFill>
                <a:latin typeface="Amazon Ember"/>
              </a:defRPr>
            </a:pPr>
            <a:r>
              <a:t>LIVE DASHBOARD: AWS BUILDER CENTER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EXCLUSIVE PERKS FOR OUR CAMPUS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Why Should You Join? Student Benefits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5448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600+ Free Courses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Full access to official AWS Skill Builder courses, curated learning paths for Cloud Practitioner, AI &amp; Solutions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Hands-On Tutorials &amp; Labs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Step-by-step interactive workshops, serverless labs, and real cloud building experiences right from your browser.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7472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Weekly Challenges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Structured problem-solving challenges to test your skills, earn digital credentials, and showcase verified builds on LinkedIn.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474720"/>
            <a:ext cx="4937760" cy="17373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182880"/>
          <a:lstStyle/>
          <a:p>
            <a:pPr algn="ctr">
              <a:defRPr sz="1600" b="1">
                <a:solidFill>
                  <a:srgbClr val="F8FAFC"/>
                </a:solidFill>
                <a:latin typeface="Amazon Ember"/>
              </a:defRPr>
            </a:pPr>
            <a:r>
              <a:t>Global Tech Network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mazon Ember"/>
              </a:defRPr>
            </a:pPr>
            <a:r>
              <a:t>Direct connection to AWS engineers, student leaders across universities, and unlock mentorship &amp; campus leadership opportunities.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577840"/>
            <a:ext cx="10149840" cy="640080"/>
          </a:xfrm>
          <a:prstGeom prst="roundRect">
            <a:avLst/>
          </a:prstGeom>
          <a:solidFill>
            <a:srgbClr val="202C3C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8FAFC"/>
                </a:solidFill>
                <a:latin typeface="Amazon Ember"/>
              </a:defRPr>
            </a:pPr>
            <a:r>
              <a:t>100% FREE FOR STUDENTS  —  NO CREDIT CARD OR BILLING SETUP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QUICK ONBOARDING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How to Sign Up in 4 Quick Steps (Takes 60s)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01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Scan &amp; Tap Sign In</a:t>
            </a:r>
          </a:p>
        </p:txBody>
      </p:sp>
      <p:pic>
        <p:nvPicPr>
          <p:cNvPr id="9" name="Picture 8" descr="step1_cropp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008" y="2560320"/>
            <a:ext cx="1837943" cy="3520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52044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02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Tap &lt; Back Arrow</a:t>
            </a:r>
          </a:p>
        </p:txBody>
      </p:sp>
      <p:pic>
        <p:nvPicPr>
          <p:cNvPr id="12" name="Picture 11" descr="step2_croppe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3048" y="2560320"/>
            <a:ext cx="1837943" cy="35204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2648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03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Claim Unique @Alias</a:t>
            </a:r>
          </a:p>
        </p:txBody>
      </p:sp>
      <p:pic>
        <p:nvPicPr>
          <p:cNvPr id="15" name="Picture 14" descr="Screenshot_20260916-1914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2560320"/>
            <a:ext cx="1837943" cy="35204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732520" y="1508760"/>
            <a:ext cx="2423160" cy="470916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600200"/>
            <a:ext cx="2423160" cy="8686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STEP 04</a:t>
            </a:r>
          </a:p>
          <a:p>
            <a:pPr algn="ctr">
              <a:spcBef>
                <a:spcPts val="2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Confirm Student Status</a:t>
            </a:r>
          </a:p>
        </p:txBody>
      </p:sp>
      <p:pic>
        <p:nvPicPr>
          <p:cNvPr id="18" name="Picture 17" descr="Screenshot_20260916-1914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5128" y="2560320"/>
            <a:ext cx="1837943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hatsApp Image 2026-07-16 at 18.09.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365760"/>
            <a:ext cx="10728655" cy="6126480"/>
          </a:xfrm>
          <a:prstGeom prst="roundRect">
            <a:avLst/>
          </a:prstGeom>
          <a:solidFill>
            <a:srgbClr val="121923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C7211"/>
                </a:solidFill>
                <a:latin typeface="Amazon Ember"/>
              </a:defRPr>
            </a:pPr>
            <a:r>
              <a:t>JOIN OUR CAMPUS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mazon Ember"/>
              </a:defRPr>
            </a:pPr>
            <a:r>
              <a:t>Scan Now &amp; Join AWS Builder Center</a:t>
            </a:r>
          </a:p>
        </p:txBody>
      </p:sp>
      <p:pic>
        <p:nvPicPr>
          <p:cNvPr id="6" name="Picture 5" descr="-GEO- AWS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411480"/>
            <a:ext cx="868680" cy="5195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55448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783080"/>
            <a:ext cx="3383280" cy="3251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34924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A2430"/>
                </a:solidFill>
                <a:latin typeface="Amazon Ember"/>
              </a:defRPr>
            </a:pPr>
            <a:r>
              <a:t>SCAN WITH YOUR PHONE CAMERA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554480"/>
            <a:ext cx="5943600" cy="4572000"/>
          </a:xfrm>
          <a:prstGeom prst="roundRect">
            <a:avLst/>
          </a:prstGeom>
          <a:solidFill>
            <a:srgbClr val="1A2430"/>
          </a:solidFill>
          <a:ln w="12700">
            <a:solidFill>
              <a:srgbClr val="2E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20040"/>
          <a:lstStyle/>
          <a:p>
            <a:pPr algn="ctr">
              <a:defRPr sz="1300" b="1">
                <a:solidFill>
                  <a:srgbClr val="94A3B8"/>
                </a:solidFill>
                <a:latin typeface="Amazon Ember"/>
              </a:defRPr>
            </a:pPr>
            <a:r>
              <a:t>Exclusive Sign-Up Link:</a:t>
            </a:r>
          </a:p>
          <a:p>
            <a:pPr>
              <a:spcBef>
                <a:spcPts val="400"/>
              </a:spcBef>
              <a:defRPr sz="2200" b="1">
                <a:solidFill>
                  <a:srgbClr val="EC7211"/>
                </a:solidFill>
                <a:latin typeface="Amazon Ember"/>
              </a:defRPr>
            </a:pPr>
            <a:r>
              <a:t>https://bit.ly/4hQ40lk</a:t>
            </a:r>
          </a:p>
          <a:p>
            <a:pPr>
              <a:spcBef>
                <a:spcPts val="1600"/>
              </a:spcBef>
              <a:defRPr sz="1300" b="1">
                <a:solidFill>
                  <a:srgbClr val="F8FAFC"/>
                </a:solidFill>
                <a:latin typeface="Amazon Ember"/>
              </a:defRPr>
            </a:pPr>
            <a:r>
              <a:t>Why you need to claim it today:</a:t>
            </a:r>
          </a:p>
          <a:p>
            <a:pPr>
              <a:spcBef>
                <a:spcPts val="7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•  First-come, first-served handles: </a:t>
            </a:r>
            <a:r>
              <a:rPr b="0">
                <a:solidFill>
                  <a:srgbClr val="94A3B8"/>
                </a:solidFill>
              </a:rPr>
              <a:t>Unique @aliases cannot be changed once chosen. Reserve your personal name or handle today.</a:t>
            </a:r>
          </a:p>
          <a:p>
            <a:pPr>
              <a:spcBef>
                <a:spcPts val="7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•  Instant access to free perks: </a:t>
            </a:r>
            <a:r>
              <a:rPr b="0">
                <a:solidFill>
                  <a:srgbClr val="94A3B8"/>
                </a:solidFill>
              </a:rPr>
              <a:t>Unlock 600+ Skill Builder courses &amp; hands-on workshops right away.</a:t>
            </a:r>
          </a:p>
          <a:p>
            <a:pPr>
              <a:spcBef>
                <a:spcPts val="700"/>
              </a:spcBef>
              <a:defRPr sz="1100" b="1">
                <a:solidFill>
                  <a:srgbClr val="F8FAFC"/>
                </a:solidFill>
                <a:latin typeface="Amazon Ember"/>
              </a:defRPr>
            </a:pPr>
            <a:r>
              <a:t>•  Connect with Sathwik Bhat (@bhatsathwik): </a:t>
            </a:r>
            <a:r>
              <a:rPr b="0">
                <a:solidFill>
                  <a:srgbClr val="94A3B8"/>
                </a:solidFill>
              </a:rPr>
              <a:t>Connect with me on campus for project guidance, student study groups, and certifications.</a:t>
            </a:r>
          </a:p>
          <a:p>
            <a:pPr>
              <a:spcBef>
                <a:spcPts val="1800"/>
              </a:spcBef>
              <a:defRPr sz="1100" b="1">
                <a:solidFill>
                  <a:srgbClr val="EC7211"/>
                </a:solidFill>
                <a:latin typeface="Amazon Ember"/>
              </a:defRPr>
            </a:pPr>
            <a:r>
              <a:t>AWS Student Builder Campus Leader (SBCL)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